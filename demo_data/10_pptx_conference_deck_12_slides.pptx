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>
                <a:latin typeface="DejaVu Sans"/>
              </a:rPr>
              <a:t>Slide/PAGE 1: сплавы, режимы, свойства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120640" cy="5440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/>
            </a:pPr>
            <a:r>
              <a:rPr>
                <a:latin typeface="DejaVu Sans"/>
              </a:rPr>
              <a:t>Серия сопоставляет режимы термообработки с механическими свойствами. Приоритет источника: таблица измерений, затем текстовый комментарий. Контрольная страница: 1.</a:t>
            </a:r>
          </a:p>
          <a:p>
            <a:pPr>
              <a:defRPr sz="1100"/>
            </a:pPr>
            <a:r>
              <a:rPr>
                <a:latin typeface="DejaVu Sans"/>
              </a:rPr>
              <a:t>• 12Х18Н10Т / закалка / твердость: 240 HV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7075-T6 / растворный отжиг / относительное удлинение: 11.5 % (decrease).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15-5PH / отпуск / усталостный предел: 640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7075-T6 / старение / прочность: 531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Зашиты дубликаты, конфликты, gaps и mixed units; LLM не должен извлекать факты.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0" y="822960"/>
          <a:ext cx="6126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39140">
                <a:tc>
                  <a:txBody>
                    <a:bodyPr/>
                    <a:lstStyle/>
                    <a:p>
                      <a:r>
                        <a:rPr sz="1000"/>
                        <a:t>Материал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Знач.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Ед.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30ХГСА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отпуск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коррозионная стойкость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30ХГСА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отпуск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предел текучести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30ХГСА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закалка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HRC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54406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>
                <a:latin typeface="DejaVu Sans"/>
              </a:rPr>
              <a:t>Источник: Группа коррозионных испытаний КОР-1; прибор: камера солевого тумана NSS-240.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>
                <a:latin typeface="DejaVu Sans"/>
              </a:rPr>
              <a:t>Slide/PAGE 2: сплавы, режимы, свойства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120640" cy="5440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/>
            </a:pPr>
            <a:r>
              <a:rPr>
                <a:latin typeface="DejaVu Sans"/>
              </a:rPr>
              <a:t>Серия сопоставляет режимы термообработки с механическими свойствами. Приоритет источника: таблица измерений, затем текстовый комментарий. Контрольная страница: 2.</a:t>
            </a:r>
          </a:p>
          <a:p>
            <a:pPr>
              <a:defRPr sz="1100"/>
            </a:pPr>
            <a:r>
              <a:rPr>
                <a:latin typeface="DejaVu Sans"/>
              </a:rPr>
              <a:t>• 12Х18Н10Т / закалка / твердость: 240 HV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7075-T6 / старение / прочность: 531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15-5PH / старение / твердость: 42 HRC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7075-T6 / растворный отжиг / относительное удлинение: 11.5 % (decrease).</a:t>
            </a:r>
          </a:p>
          <a:p>
            <a:pPr>
              <a:defRPr sz="1100"/>
            </a:pPr>
            <a:r>
              <a:rPr>
                <a:latin typeface="DejaVu Sans"/>
              </a:rPr>
              <a:t>Зашиты дубликаты, конфликты, gaps и mixed units; LLM не должен извлекать факты.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0" y="822960"/>
          <a:ext cx="6126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39140">
                <a:tc>
                  <a:txBody>
                    <a:bodyPr/>
                    <a:lstStyle/>
                    <a:p>
                      <a:r>
                        <a:rPr sz="1000"/>
                        <a:t>Материал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Знач.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Ед.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предел текучести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30ХГСА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закалка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HRC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12Х18Н10Т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закалка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HV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54406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>
                <a:latin typeface="DejaVu Sans"/>
              </a:rPr>
              <a:t>Источник: Группа коррозионных испытаний КОР-1; прибор: оптический микроскоп Olympus GX53.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>
                <a:latin typeface="DejaVu Sans"/>
              </a:rPr>
              <a:t>Slide/PAGE 3: сплавы, режимы, свойства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120640" cy="5440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/>
            </a:pPr>
            <a:r>
              <a:rPr>
                <a:latin typeface="DejaVu Sans"/>
              </a:rPr>
              <a:t>Серия сопоставляет режимы термообработки с механическими свойствами. Приоритет источника: таблица измерений, затем текстовый комментарий. Контрольная страница: 3.</a:t>
            </a:r>
          </a:p>
          <a:p>
            <a:pPr>
              <a:defRPr sz="1100"/>
            </a:pPr>
            <a:r>
              <a:rPr>
                <a:latin typeface="DejaVu Sans"/>
              </a:rPr>
              <a:t>• ВТ6 / отжиг / коррозионная стойкость: явно не измерялось.</a:t>
            </a:r>
          </a:p>
          <a:p>
            <a:pPr>
              <a:defRPr sz="1100"/>
            </a:pPr>
            <a:r>
              <a:rPr>
                <a:latin typeface="DejaVu Sans"/>
              </a:rPr>
              <a:t>• 12Х18Н10Т / растворный отжиг / коррозионная стойкость: явно не измерялось.</a:t>
            </a:r>
          </a:p>
          <a:p>
            <a:pPr>
              <a:defRPr sz="1100"/>
            </a:pPr>
            <a:r>
              <a:rPr>
                <a:latin typeface="DejaVu Sans"/>
              </a:rPr>
              <a:t>• 12Х18Н10Т / закалка / твердость: 240 HV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15-5PH / отпуск / усталостный предел: 640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Зашиты дубликаты, конфликты, gaps и mixed units; LLM не должен извлекать факты.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0" y="822960"/>
          <a:ext cx="6126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39140">
                <a:tc>
                  <a:txBody>
                    <a:bodyPr/>
                    <a:lstStyle/>
                    <a:p>
                      <a:r>
                        <a:rPr sz="1000"/>
                        <a:t>Материал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Знач.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Ед.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7075-T6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растворный 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относительное удлинение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%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15-5PH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HRC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30ХГСА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отпуск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HV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54406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>
                <a:latin typeface="DejaVu Sans"/>
              </a:rPr>
              <a:t>Источник: Группа коррозионных испытаний КОР-1; прибор: камера солевого тумана NSS-240.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>
                <a:latin typeface="DejaVu Sans"/>
              </a:rPr>
              <a:t>Slide/PAGE 4: сплавы, режимы, свойства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120640" cy="5440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/>
            </a:pPr>
            <a:r>
              <a:rPr>
                <a:latin typeface="DejaVu Sans"/>
              </a:rPr>
              <a:t>Серия сопоставляет режимы термообработки с механическими свойствами. Приоритет источника: таблица измерений, затем текстовый комментарий. Контрольная страница: 4.</a:t>
            </a:r>
          </a:p>
          <a:p>
            <a:pPr>
              <a:defRPr sz="1100"/>
            </a:pPr>
            <a:r>
              <a:rPr>
                <a:latin typeface="DejaVu Sans"/>
              </a:rPr>
              <a:t>• 12Х18Н10Т / закалка / твердость: 210 HV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15-5PH / отпуск / усталостный предел: 640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7075-T6 / растворный отжиг / относительное удлинение: 11.5 % (decrease).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ВТ6 / отжиг / прочность: 980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Зашиты дубликаты, конфликты, gaps и mixed units; LLM не должен извлекать факты.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0" y="822960"/>
          <a:ext cx="6126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39140">
                <a:tc>
                  <a:txBody>
                    <a:bodyPr/>
                    <a:lstStyle/>
                    <a:p>
                      <a:r>
                        <a:rPr sz="1000"/>
                        <a:t>Материал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Знач.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Ед.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30ХГСА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закалка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HRC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7075-T6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растворный 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относительное удлинение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%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предел текучести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7075-T6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ksi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54406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>
                <a:latin typeface="DejaVu Sans"/>
              </a:rPr>
              <a:t>Источник: Центр механических испытаний ЦМИ-4; прибор: камера солевого тумана NSS-240.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>
                <a:latin typeface="DejaVu Sans"/>
              </a:rPr>
              <a:t>Slide/PAGE 5: сплавы, режимы, свойства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120640" cy="5440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/>
            </a:pPr>
            <a:r>
              <a:rPr>
                <a:latin typeface="DejaVu Sans"/>
              </a:rPr>
              <a:t>Серия сопоставляет режимы термообработки с механическими свойствами. Приоритет источника: таблица измерений, затем текстовый комментарий. Контрольная страница: 5.</a:t>
            </a:r>
          </a:p>
          <a:p>
            <a:pPr>
              <a:defRPr sz="1100"/>
            </a:pPr>
            <a:r>
              <a:rPr>
                <a:latin typeface="DejaVu Sans"/>
              </a:rPr>
              <a:t>• ВТ6 / отжиг / прочность: 980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7075-T6 / старение / прочность: 77 ksi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ВТ6 / отжиг / коррозионная стойкость: явно не измерялось.</a:t>
            </a:r>
          </a:p>
          <a:p>
            <a:pPr>
              <a:defRPr sz="1100"/>
            </a:pPr>
            <a:r>
              <a:rPr>
                <a:latin typeface="DejaVu Sans"/>
              </a:rPr>
              <a:t>• В95 / старение / предел текучести: 505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Зашиты дубликаты, конфликты, gaps и mixed units; LLM не должен извлекать факты.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0" y="822960"/>
          <a:ext cx="6126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39140">
                <a:tc>
                  <a:txBody>
                    <a:bodyPr/>
                    <a:lstStyle/>
                    <a:p>
                      <a:r>
                        <a:rPr sz="1000"/>
                        <a:t>Материал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Знач.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Ед.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15-5PH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HRC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7075-T6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растворный 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относительное удлинение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%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HV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HV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54406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>
                <a:latin typeface="DejaVu Sans"/>
              </a:rPr>
              <a:t>Источник: Группа коррозионных испытаний КОР-1; прибор: оптический микроскоп Olympus GX53.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>
                <a:latin typeface="DejaVu Sans"/>
              </a:rPr>
              <a:t>Slide/PAGE 6: сплавы, режимы, свойства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120640" cy="5440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/>
            </a:pPr>
            <a:r>
              <a:rPr>
                <a:latin typeface="DejaVu Sans"/>
              </a:rPr>
              <a:t>Серия сопоставляет режимы термообработки с механическими свойствами. Приоритет источника: таблица измерений, затем текстовый комментарий. Контрольная страница: 6.</a:t>
            </a:r>
          </a:p>
          <a:p>
            <a:pPr>
              <a:defRPr sz="1100"/>
            </a:pPr>
            <a:r>
              <a:rPr>
                <a:latin typeface="DejaVu Sans"/>
              </a:rPr>
              <a:t>• 12Х18Н10Т / закалка / твердость: 240 HV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15-5PH / отпуск / усталостный предел: 640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12Х18Н10Т / растворный отжиг / коррозионная стойкость: явно не измерялось.</a:t>
            </a:r>
          </a:p>
          <a:p>
            <a:pPr>
              <a:defRPr sz="1100"/>
            </a:pPr>
            <a:r>
              <a:rPr>
                <a:latin typeface="DejaVu Sans"/>
              </a:rPr>
              <a:t>• В95 / старение / предел текучести: 505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Зашиты дубликаты, конфликты, gaps и mixed units; LLM не должен извлекать факты.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0" y="822960"/>
          <a:ext cx="6126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39140">
                <a:tc>
                  <a:txBody>
                    <a:bodyPr/>
                    <a:lstStyle/>
                    <a:p>
                      <a:r>
                        <a:rPr sz="1000"/>
                        <a:t>Материал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Знач.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Ед.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HV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HV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HV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30ХГСА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отпуск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12Х18Н10Т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растворный 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коррозионная стойкость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54406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>
                <a:latin typeface="DejaVu Sans"/>
              </a:rPr>
              <a:t>Источник: Центр механических испытаний ЦМИ-4; прибор: Твердомер Виккерса HV-10.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>
                <a:latin typeface="DejaVu Sans"/>
              </a:rPr>
              <a:t>Slide/PAGE 7: сплавы, режимы, свойства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120640" cy="5440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/>
            </a:pPr>
            <a:r>
              <a:rPr>
                <a:latin typeface="DejaVu Sans"/>
              </a:rPr>
              <a:t>Серия сопоставляет режимы термообработки с механическими свойствами. Приоритет источника: таблица измерений, затем текстовый комментарий. Контрольная страница: 7.</a:t>
            </a:r>
          </a:p>
          <a:p>
            <a:pPr>
              <a:defRPr sz="1100"/>
            </a:pPr>
            <a:r>
              <a:rPr>
                <a:latin typeface="DejaVu Sans"/>
              </a:rPr>
              <a:t>• 7075-T6 / старение / прочность: 77 ksi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7075-T6 / старение / прочность: 531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12Х18Н10Т / растворный отжиг / коррозионная стойкость: явно не измерялось.</a:t>
            </a:r>
          </a:p>
          <a:p>
            <a:pPr>
              <a:defRPr sz="1100"/>
            </a:pPr>
            <a:r>
              <a:rPr>
                <a:latin typeface="DejaVu Sans"/>
              </a:rPr>
              <a:t>• ВТ6 / отжиг / коррозионная стойкость: явно не измерялось.</a:t>
            </a:r>
          </a:p>
          <a:p>
            <a:pPr>
              <a:defRPr sz="1100"/>
            </a:pPr>
            <a:r>
              <a:rPr>
                <a:latin typeface="DejaVu Sans"/>
              </a:rPr>
              <a:t>Зашиты дубликаты, конфликты, gaps и mixed units; LLM не должен извлекать факты.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0" y="822960"/>
          <a:ext cx="6126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39140">
                <a:tc>
                  <a:txBody>
                    <a:bodyPr/>
                    <a:lstStyle/>
                    <a:p>
                      <a:r>
                        <a:rPr sz="1000"/>
                        <a:t>Материал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Знач.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Ед.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коррозионная стойкость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7075-T6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15-5PH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отпуск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усталостный предел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12Х18Н10Т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закалка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HV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7075-T6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54406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>
                <a:latin typeface="DejaVu Sans"/>
              </a:rPr>
              <a:t>Источник: Отдел металлографии ОМГ-3; прибор: оптический микроскоп Olympus GX53.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>
                <a:latin typeface="DejaVu Sans"/>
              </a:rPr>
              <a:t>Slide/PAGE 8: сплавы, режимы, свойства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120640" cy="5440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/>
            </a:pPr>
            <a:r>
              <a:rPr>
                <a:latin typeface="DejaVu Sans"/>
              </a:rPr>
              <a:t>Серия сопоставляет режимы термообработки с механическими свойствами. Приоритет источника: таблица измерений, затем текстовый комментарий. Контрольная страница: 8.</a:t>
            </a:r>
          </a:p>
          <a:p>
            <a:pPr>
              <a:defRPr sz="1100"/>
            </a:pPr>
            <a:r>
              <a:rPr>
                <a:latin typeface="DejaVu Sans"/>
              </a:rPr>
              <a:t>• 15-5PH / отпуск / усталостный предел: 640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ВТ6 / отжиг / коррозионная стойкость: явно не измерялось.</a:t>
            </a:r>
          </a:p>
          <a:p>
            <a:pPr>
              <a:defRPr sz="1100"/>
            </a:pPr>
            <a:r>
              <a:rPr>
                <a:latin typeface="DejaVu Sans"/>
              </a:rPr>
              <a:t>• 30ХГСА / закалка / твердость: 45 HRC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ВТ6 / отжиг / прочность: 1120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Зашиты дубликаты, конфликты, gaps и mixed units; LLM не должен извлекать факты.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0" y="822960"/>
          <a:ext cx="6126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39140">
                <a:tc>
                  <a:txBody>
                    <a:bodyPr/>
                    <a:lstStyle/>
                    <a:p>
                      <a:r>
                        <a:rPr sz="1000"/>
                        <a:t>Материал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Знач.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Ед.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30ХГСА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закалка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HRC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7075-T6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растворный 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относительное удлинение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%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15-5PH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отпуск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усталостный предел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30ХГСА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отпуск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7075-T6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растворный 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относительное удлинение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54406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>
                <a:latin typeface="DejaVu Sans"/>
              </a:rPr>
              <a:t>Источник: Отдел металлографии ОМГ-3; прибор: оптический микроскоп Olympus GX53.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>
                <a:latin typeface="DejaVu Sans"/>
              </a:rPr>
              <a:t>Slide/PAGE 9: сплавы, режимы, свойства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120640" cy="5440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/>
            </a:pPr>
            <a:r>
              <a:rPr>
                <a:latin typeface="DejaVu Sans"/>
              </a:rPr>
              <a:t>Серия сопоставляет режимы термообработки с механическими свойствами. Приоритет источника: таблица измерений, затем текстовый комментарий. Контрольная страница: 9.</a:t>
            </a:r>
          </a:p>
          <a:p>
            <a:pPr>
              <a:defRPr sz="1100"/>
            </a:pPr>
            <a:r>
              <a:rPr>
                <a:latin typeface="DejaVu Sans"/>
              </a:rPr>
              <a:t>• 15-5PH / старение / твердость: 42 HRC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ВТ6 / отжиг / прочность: 1120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12Х18Н10Т / растворный отжиг / коррозионная стойкость: явно не измерялось.</a:t>
            </a:r>
          </a:p>
          <a:p>
            <a:pPr>
              <a:defRPr sz="1100"/>
            </a:pPr>
            <a:r>
              <a:rPr>
                <a:latin typeface="DejaVu Sans"/>
              </a:rPr>
              <a:t>• 30ХГСА / отпуск / прочность: 1560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Зашиты дубликаты, конфликты, gaps и mixed units; LLM не должен извлекать факты.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0" y="822960"/>
          <a:ext cx="6126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39140">
                <a:tc>
                  <a:txBody>
                    <a:bodyPr/>
                    <a:lstStyle/>
                    <a:p>
                      <a:r>
                        <a:rPr sz="1000"/>
                        <a:t>Материал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Знач.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Ед.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7075-T6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ksi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15-5PH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HRC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15-5PH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HRC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54406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>
                <a:latin typeface="DejaVu Sans"/>
              </a:rPr>
              <a:t>Источник: Отдел металлографии ОМГ-3; прибор: Instron 5982.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>
                <a:latin typeface="DejaVu Sans"/>
              </a:rPr>
              <a:t>Slide/PAGE 10: сплавы, режимы, свойства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120640" cy="5440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/>
            </a:pPr>
            <a:r>
              <a:rPr>
                <a:latin typeface="DejaVu Sans"/>
              </a:rPr>
              <a:t>Серия сопоставляет режимы термообработки с механическими свойствами. Приоритет источника: таблица измерений, затем текстовый комментарий. Контрольная страница: 10.</a:t>
            </a:r>
          </a:p>
          <a:p>
            <a:pPr>
              <a:defRPr sz="1100"/>
            </a:pPr>
            <a:r>
              <a:rPr>
                <a:latin typeface="DejaVu Sans"/>
              </a:rPr>
              <a:t>• В95 / старение / предел текучести: 505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ВТ6 / отжиг / прочность: 980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15-5PH / отпуск / усталостный предел: 640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7075-T6 / старение / прочность: 531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Зашиты дубликаты, конфликты, gaps и mixed units; LLM не должен извлекать факты.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0" y="822960"/>
          <a:ext cx="6126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39140">
                <a:tc>
                  <a:txBody>
                    <a:bodyPr/>
                    <a:lstStyle/>
                    <a:p>
                      <a:r>
                        <a:rPr sz="1000"/>
                        <a:t>Материал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Знач.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Ед.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7075-T6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12Х18Н10Т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растворный 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коррозионная стойкость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30ХГСА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отпуск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54406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>
                <a:latin typeface="DejaVu Sans"/>
              </a:rPr>
              <a:t>Источник: Лаборатория термообработки ЛТ-2; прибор: Твердомер Виккерса HV-10.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>
                <a:latin typeface="DejaVu Sans"/>
              </a:rPr>
              <a:t>Slide/PAGE 11: сплавы, режимы, свойства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120640" cy="5440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/>
            </a:pPr>
            <a:r>
              <a:rPr>
                <a:latin typeface="DejaVu Sans"/>
              </a:rPr>
              <a:t>Серия сопоставляет режимы термообработки с механическими свойствами. Приоритет источника: таблица измерений, затем текстовый комментарий. Контрольная страница: 11.</a:t>
            </a:r>
          </a:p>
          <a:p>
            <a:pPr>
              <a:defRPr sz="1100"/>
            </a:pPr>
            <a:r>
              <a:rPr>
                <a:latin typeface="DejaVu Sans"/>
              </a:rPr>
              <a:t>• 30ХГСА / закалка / твердость: 45 HRC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30ХГСА / отпуск / прочность: 1560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12Х18Н10Т / растворный отжиг / коррозионная стойкость: явно не измерялось.</a:t>
            </a:r>
          </a:p>
          <a:p>
            <a:pPr>
              <a:defRPr sz="1100"/>
            </a:pPr>
            <a:r>
              <a:rPr>
                <a:latin typeface="DejaVu Sans"/>
              </a:rPr>
              <a:t>• ВТ6 / отжиг / прочность: 980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Зашиты дубликаты, конфликты, gaps и mixed units; LLM не должен извлекать факты.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0" y="822960"/>
          <a:ext cx="6126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39140">
                <a:tc>
                  <a:txBody>
                    <a:bodyPr/>
                    <a:lstStyle/>
                    <a:p>
                      <a:r>
                        <a:rPr sz="1000"/>
                        <a:t>Материал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Знач.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Ед.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30ХГСА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отпуск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15-5PH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HRC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предел текучести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12Х18Н10Т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растворный 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коррозионная стойкость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7075-T6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ksi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54406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>
                <a:latin typeface="DejaVu Sans"/>
              </a:rPr>
              <a:t>Источник: Группа коррозионных испытаний КОР-1; прибор: оптический микроскоп Olympus GX53.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>
                <a:latin typeface="DejaVu Sans"/>
              </a:rPr>
              <a:t>Slide/PAGE 12: сплавы, режимы, свойства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120640" cy="5440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/>
            </a:pPr>
            <a:r>
              <a:rPr>
                <a:latin typeface="DejaVu Sans"/>
              </a:rPr>
              <a:t>Серия сопоставляет режимы термообработки с механическими свойствами. Приоритет источника: таблица измерений, затем текстовый комментарий. Контрольная страница: 12.</a:t>
            </a:r>
          </a:p>
          <a:p>
            <a:pPr>
              <a:defRPr sz="1100"/>
            </a:pPr>
            <a:r>
              <a:rPr>
                <a:latin typeface="DejaVu Sans"/>
              </a:rPr>
              <a:t>• ВТ6 / отжиг / прочность: 980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7075-T6 / старение / прочность: 531 MPa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12Х18Н10Т / закалка / твердость: 240 HV (increase).</a:t>
            </a:r>
          </a:p>
          <a:p>
            <a:pPr>
              <a:defRPr sz="1100"/>
            </a:pPr>
            <a:r>
              <a:rPr>
                <a:latin typeface="DejaVu Sans"/>
              </a:rPr>
              <a:t>• 12Х18Н10Т / растворный отжиг / коррозионная стойкость: явно не измерялось.</a:t>
            </a:r>
          </a:p>
          <a:p>
            <a:pPr>
              <a:defRPr sz="1100"/>
            </a:pPr>
            <a:r>
              <a:rPr>
                <a:latin typeface="DejaVu Sans"/>
              </a:rPr>
              <a:t>Зашиты дубликаты, конфликты, gaps и mixed units; LLM не должен извлекать факты.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0" y="822960"/>
          <a:ext cx="6126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39140">
                <a:tc>
                  <a:txBody>
                    <a:bodyPr/>
                    <a:lstStyle/>
                    <a:p>
                      <a:r>
                        <a:rPr sz="1000"/>
                        <a:t>Материал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Свойство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Знач.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Ед.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ВТ6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старение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HV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7075-T6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растворный отжиг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относительное удлинение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%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30ХГСА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отпуск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прочность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15-5PH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отпуск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усталостный предел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MPa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000"/>
                        <a:t>12Х18Н10Т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закалка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твердость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HV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54406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>
                <a:latin typeface="DejaVu Sans"/>
              </a:rPr>
              <a:t>Источник: Центр механических испытаний ЦМИ-4; прибор: Instron 5982.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